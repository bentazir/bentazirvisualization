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330" r:id="rId4"/>
    <p:sldId id="332" r:id="rId5"/>
    <p:sldId id="333" r:id="rId6"/>
    <p:sldId id="334" r:id="rId7"/>
    <p:sldId id="335" r:id="rId8"/>
    <p:sldId id="336" r:id="rId9"/>
    <p:sldId id="338" r:id="rId10"/>
    <p:sldId id="337" r:id="rId11"/>
    <p:sldId id="320" r:id="rId1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0" autoAdjust="0"/>
    <p:restoredTop sz="93716" autoAdjust="0"/>
  </p:normalViewPr>
  <p:slideViewPr>
    <p:cSldViewPr>
      <p:cViewPr>
        <p:scale>
          <a:sx n="98" d="100"/>
          <a:sy n="98" d="100"/>
        </p:scale>
        <p:origin x="1788" y="318"/>
      </p:cViewPr>
      <p:guideLst>
        <p:guide orient="horz" pos="2160"/>
        <p:guide pos="2880"/>
      </p:guideLst>
    </p:cSldViewPr>
  </p:slideViewPr>
  <p:outlineViewPr>
    <p:cViewPr>
      <p:scale>
        <a:sx n="33" d="100"/>
        <a:sy n="33" d="100"/>
      </p:scale>
      <p:origin x="0" y="9666"/>
    </p:cViewPr>
  </p:outlineViewPr>
  <p:notesTextViewPr>
    <p:cViewPr>
      <p:scale>
        <a:sx n="100" d="100"/>
        <a:sy n="100" d="100"/>
      </p:scale>
      <p:origin x="0" y="0"/>
    </p:cViewPr>
  </p:notesTextViewPr>
  <p:notesViewPr>
    <p:cSldViewPr>
      <p:cViewPr varScale="1">
        <p:scale>
          <a:sx n="52" d="100"/>
          <a:sy n="52" d="100"/>
        </p:scale>
        <p:origin x="-289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8B694D-04C3-4866-B0A9-AB839357026D}" type="datetimeFigureOut">
              <a:rPr lang="fr-FR" smtClean="0"/>
              <a:pPr/>
              <a:t>28/01/2023</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24CF6C-CB2C-419E-9E31-7DD5CFD89F4C}"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B24CF6C-CB2C-419E-9E31-7DD5CFD89F4C}" type="slidenum">
              <a:rPr lang="fr-FR" smtClean="0"/>
              <a:pPr/>
              <a:t>11</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359087BC-5C80-4B17-BCF3-F117EDFB8D34}" type="datetime1">
              <a:rPr lang="fr-FR" smtClean="0"/>
              <a:pPr/>
              <a:t>28/01/2023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FB30275-7CBB-42E9-8AD7-3A762F30745A}" type="datetime1">
              <a:rPr lang="fr-FR" smtClean="0"/>
              <a:pPr/>
              <a:t>28/01/2023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6CE85F9C-4605-4C9D-8009-8EF59A0AA035}" type="datetime1">
              <a:rPr lang="fr-FR" smtClean="0"/>
              <a:pPr/>
              <a:t>28/01/2023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2C0AC630-F31B-4A7F-A8AB-F549B000F005}" type="datetime1">
              <a:rPr lang="fr-FR" smtClean="0"/>
              <a:pPr/>
              <a:t>28/01/2023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E9664BE-D17C-4489-95FA-3BA92E9FBFE6}" type="datetime1">
              <a:rPr lang="fr-FR" smtClean="0"/>
              <a:pPr/>
              <a:t>28/01/2023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935E772D-28ED-4B71-B0E3-65DD55A5515A}" type="datetime1">
              <a:rPr lang="fr-FR" smtClean="0"/>
              <a:pPr/>
              <a:t>28/01/2023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30A82A-BD50-434C-8B1F-4D5DA4E43092}" type="datetime1">
              <a:rPr lang="fr-FR" smtClean="0"/>
              <a:pPr/>
              <a:t>28/01/2023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25C18141-3F93-4E7A-8680-6E3FAE172EFD}" type="datetime1">
              <a:rPr lang="fr-FR" smtClean="0"/>
              <a:pPr/>
              <a:t>28/01/2023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6EE71213-89C1-481B-A182-C59C6A3CA64C}" type="datetime1">
              <a:rPr lang="fr-FR" smtClean="0"/>
              <a:pPr/>
              <a:t>28/01/2023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40BF862-A714-47EF-A1EE-C229D9F5B0B2}" type="datetime1">
              <a:rPr lang="fr-FR" smtClean="0"/>
              <a:pPr/>
              <a:t>28/01/2023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8D73E59-06D3-4615-AE51-F215C201BE0C}" type="datetime1">
              <a:rPr lang="fr-FR" smtClean="0"/>
              <a:pPr/>
              <a:t>28/01/2023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AE46C2-BBC1-4646-95C3-57042F6F9EE7}" type="slidenum">
              <a:rPr lang="fr-FR" smtClean="0"/>
              <a:pPr/>
              <a:t>‹N°›</a:t>
            </a:fld>
            <a:endParaRPr lang="fr-F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44A3CB-5887-4DBA-8D6D-2E5615216466}" type="datetime1">
              <a:rPr lang="fr-FR" smtClean="0"/>
              <a:pPr/>
              <a:t>28/01/2023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E46C2-BBC1-4646-95C3-57042F6F9EE7}"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hraouak/covid19-in-france"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kaggle.com/datasets/hraouak/covid19-in-france"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AF9E755A-D86A-4AF1-BC34-E18A13E0B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100" y="-13539"/>
            <a:ext cx="10256200" cy="6858000"/>
          </a:xfrm>
          <a:prstGeom prst="rect">
            <a:avLst/>
          </a:prstGeom>
        </p:spPr>
      </p:pic>
      <p:sp>
        <p:nvSpPr>
          <p:cNvPr id="2" name="Titre 1"/>
          <p:cNvSpPr>
            <a:spLocks noGrp="1"/>
          </p:cNvSpPr>
          <p:nvPr>
            <p:ph type="ctrTitle"/>
          </p:nvPr>
        </p:nvSpPr>
        <p:spPr>
          <a:xfrm>
            <a:off x="685800" y="1073461"/>
            <a:ext cx="7772400" cy="428739"/>
          </a:xfrm>
        </p:spPr>
        <p:txBody>
          <a:bodyPr>
            <a:normAutofit fontScale="90000"/>
          </a:bodyPr>
          <a:lstStyle/>
          <a:p>
            <a:r>
              <a:rPr lang="fr-FR" sz="2200" b="1" spc="50" dirty="0" err="1">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University</a:t>
            </a:r>
            <a:r>
              <a:rPr lang="fr-FR" sz="22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  Of Luxembourg.</a:t>
            </a:r>
            <a:br>
              <a:rPr lang="fr-FR" sz="22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br>
            <a:r>
              <a:rPr lang="fr-FR" sz="2200" b="1" spc="50" dirty="0" err="1">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Faculty</a:t>
            </a:r>
            <a:r>
              <a:rPr lang="fr-FR" sz="22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 of Sciences, </a:t>
            </a:r>
            <a:r>
              <a:rPr lang="fr-FR" sz="2200" b="1" spc="50" dirty="0" err="1">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Technology</a:t>
            </a:r>
            <a:r>
              <a:rPr lang="fr-FR" sz="22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 and </a:t>
            </a:r>
            <a:r>
              <a:rPr lang="fr-FR" sz="2200" b="1" spc="50" dirty="0" err="1">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Medecine</a:t>
            </a:r>
            <a:br>
              <a:rPr lang="fr-FR" sz="31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br>
            <a:r>
              <a:rPr lang="fr-FR" sz="22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Département Of Data Science.</a:t>
            </a:r>
            <a:br>
              <a:rPr lang="fr-F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cs typeface="Times New Roman" pitchFamily="18" charset="0"/>
              </a:rPr>
            </a:br>
            <a:r>
              <a:rPr lang="fr-F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cs typeface="Times New Roman" pitchFamily="18" charset="0"/>
              </a:rPr>
              <a:t> </a:t>
            </a:r>
            <a:br>
              <a:rPr lang="fr-F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cs typeface="Times New Roman" pitchFamily="18" charset="0"/>
              </a:rPr>
            </a:br>
            <a:r>
              <a:rPr lang="fr-FR"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cs typeface="Times New Roman" pitchFamily="18" charset="0"/>
              </a:rPr>
              <a:t>THE EVOLUTION OF</a:t>
            </a:r>
            <a:br>
              <a:rPr lang="fr-FR" sz="2200" b="1" dirty="0">
                <a:solidFill>
                  <a:schemeClr val="bg1"/>
                </a:solidFill>
                <a:cs typeface="Times New Roman" pitchFamily="18" charset="0"/>
              </a:rPr>
            </a:br>
            <a:br>
              <a:rPr lang="fr-FR" sz="2800" b="1" dirty="0">
                <a:cs typeface="Times New Roman" pitchFamily="18" charset="0"/>
              </a:rPr>
            </a:br>
            <a:endParaRPr lang="fr-FR" sz="2800" dirty="0">
              <a:solidFill>
                <a:schemeClr val="bg1"/>
              </a:solidFill>
            </a:endParaRPr>
          </a:p>
        </p:txBody>
      </p:sp>
      <p:sp>
        <p:nvSpPr>
          <p:cNvPr id="6" name="ZoneTexte 5"/>
          <p:cNvSpPr txBox="1"/>
          <p:nvPr/>
        </p:nvSpPr>
        <p:spPr>
          <a:xfrm flipH="1">
            <a:off x="0" y="5591703"/>
            <a:ext cx="2928958" cy="646331"/>
          </a:xfrm>
          <a:prstGeom prst="rect">
            <a:avLst/>
          </a:prstGeom>
          <a:noFill/>
        </p:spPr>
        <p:txBody>
          <a:bodyPr wrap="square" rtlCol="0">
            <a:spAutoFit/>
          </a:bodyPr>
          <a:lstStyle/>
          <a:p>
            <a:r>
              <a:rPr lang="fr-FR"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Carried</a:t>
            </a:r>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out by :</a:t>
            </a:r>
          </a:p>
          <a:p>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Mr. BENTAZIR </a:t>
            </a:r>
            <a:r>
              <a:rPr lang="fr-FR"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fadhallah</a:t>
            </a:r>
            <a:endPar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7" name="ZoneTexte 6"/>
          <p:cNvSpPr txBox="1"/>
          <p:nvPr/>
        </p:nvSpPr>
        <p:spPr>
          <a:xfrm>
            <a:off x="6490187" y="5591704"/>
            <a:ext cx="2500330" cy="646331"/>
          </a:xfrm>
          <a:prstGeom prst="rect">
            <a:avLst/>
          </a:prstGeom>
          <a:noFill/>
        </p:spPr>
        <p:txBody>
          <a:bodyPr wrap="square" rtlCol="0">
            <a:spAutoFit/>
          </a:bodyPr>
          <a:lstStyle/>
          <a:p>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Prof :</a:t>
            </a:r>
          </a:p>
          <a:p>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Mr. Roland KRAUSE </a:t>
            </a:r>
            <a:endParaRPr lang="fr-FR"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endParaRPr>
          </a:p>
        </p:txBody>
      </p:sp>
      <p:sp>
        <p:nvSpPr>
          <p:cNvPr id="8" name="ZoneTexte 7"/>
          <p:cNvSpPr txBox="1"/>
          <p:nvPr/>
        </p:nvSpPr>
        <p:spPr>
          <a:xfrm>
            <a:off x="3214678" y="6354246"/>
            <a:ext cx="2714644" cy="369332"/>
          </a:xfrm>
          <a:prstGeom prst="rect">
            <a:avLst/>
          </a:prstGeom>
          <a:noFill/>
        </p:spPr>
        <p:txBody>
          <a:bodyPr wrap="square" rtlCol="0">
            <a:spAutoFit/>
          </a:bodyPr>
          <a:lstStyle/>
          <a:p>
            <a:pPr algn="ctr" defTabSz="914153"/>
            <a:r>
              <a:rPr lang="fr-FR" b="1" i="1" u="sng"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Cambria" pitchFamily="18" charset="0"/>
                <a:ea typeface="Arial" pitchFamily="34" charset="0"/>
                <a:cs typeface="Arial" pitchFamily="34" charset="0"/>
              </a:rPr>
              <a:t> 2022- 2023</a:t>
            </a:r>
            <a:endParaRPr lang="en-US" b="1" u="sng"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Cambria" pitchFamily="18" charset="0"/>
              <a:ea typeface="Arial" pitchFamily="34" charset="0"/>
              <a:cs typeface="Arial" pitchFamily="34" charset="0"/>
            </a:endParaRPr>
          </a:p>
        </p:txBody>
      </p:sp>
      <p:sp>
        <p:nvSpPr>
          <p:cNvPr id="11" name="Espace réservé du numéro de diapositive 10"/>
          <p:cNvSpPr>
            <a:spLocks noGrp="1"/>
          </p:cNvSpPr>
          <p:nvPr>
            <p:ph type="sldNum" sz="quarter" idx="12"/>
          </p:nvPr>
        </p:nvSpPr>
        <p:spPr/>
        <p:txBody>
          <a:bodyPr/>
          <a:lstStyle/>
          <a:p>
            <a:fld id="{5DAE46C2-BBC1-4646-95C3-57042F6F9EE7}" type="slidenum">
              <a:rPr lang="fr-FR" smtClean="0"/>
              <a:pPr/>
              <a:t>1</a:t>
            </a:fld>
            <a:endParaRPr lang="fr-FR" dirty="0"/>
          </a:p>
        </p:txBody>
      </p:sp>
      <p:pic>
        <p:nvPicPr>
          <p:cNvPr id="16" name="Image 15">
            <a:extLst>
              <a:ext uri="{FF2B5EF4-FFF2-40B4-BE49-F238E27FC236}">
                <a16:creationId xmlns:a16="http://schemas.microsoft.com/office/drawing/2014/main" id="{C515E616-BE23-44DC-8138-92D2F9B46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66" y="175049"/>
            <a:ext cx="1489332" cy="1332229"/>
          </a:xfrm>
          <a:prstGeom prst="rect">
            <a:avLst/>
          </a:prstGeom>
        </p:spPr>
      </p:pic>
      <p:pic>
        <p:nvPicPr>
          <p:cNvPr id="17" name="Image 16">
            <a:extLst>
              <a:ext uri="{FF2B5EF4-FFF2-40B4-BE49-F238E27FC236}">
                <a16:creationId xmlns:a16="http://schemas.microsoft.com/office/drawing/2014/main" id="{93F01821-CB36-4827-924F-C22691FD4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9905" y="169971"/>
            <a:ext cx="1489332" cy="1332229"/>
          </a:xfrm>
          <a:prstGeom prst="rect">
            <a:avLst/>
          </a:prstGeom>
        </p:spPr>
      </p:pic>
      <p:sp>
        <p:nvSpPr>
          <p:cNvPr id="21" name="Sous-titre 20">
            <a:extLst>
              <a:ext uri="{FF2B5EF4-FFF2-40B4-BE49-F238E27FC236}">
                <a16:creationId xmlns:a16="http://schemas.microsoft.com/office/drawing/2014/main" id="{9143B7EE-D3AD-40F3-8ACD-1E428263155C}"/>
              </a:ext>
            </a:extLst>
          </p:cNvPr>
          <p:cNvSpPr>
            <a:spLocks noGrp="1"/>
          </p:cNvSpPr>
          <p:nvPr>
            <p:ph type="subTitle" idx="1"/>
          </p:nvPr>
        </p:nvSpPr>
        <p:spPr>
          <a:xfrm>
            <a:off x="1719387" y="4708742"/>
            <a:ext cx="5705226" cy="646331"/>
          </a:xfrm>
        </p:spPr>
        <p:txBody>
          <a:bodyPr>
            <a:normAutofit fontScale="85000" lnSpcReduction="10000"/>
          </a:bodyPr>
          <a:lstStyle/>
          <a:p>
            <a:r>
              <a:rPr lang="en-US" sz="4000" b="1" spc="50" dirty="0">
                <a:ln w="13500">
                  <a:solidFill>
                    <a:schemeClr val="accent1">
                      <a:shade val="2500"/>
                      <a:alpha val="6500"/>
                    </a:schemeClr>
                  </a:solidFill>
                  <a:prstDash val="solid"/>
                </a:ln>
                <a:solidFill>
                  <a:srgbClr val="C00000"/>
                </a:solidFill>
                <a:effectLst>
                  <a:innerShdw blurRad="50900" dist="38500" dir="13500000">
                    <a:srgbClr val="000000">
                      <a:alpha val="60000"/>
                    </a:srgbClr>
                  </a:innerShdw>
                </a:effectLst>
              </a:rPr>
              <a:t>CASES OVER TIME IN FRANCE</a:t>
            </a:r>
            <a:endParaRPr lang="fr-FR" sz="4000" dirty="0"/>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0" y="0"/>
            <a:ext cx="9144000" cy="6858000"/>
          </a:xfrm>
          <a:prstGeom prst="rect">
            <a:avLst/>
          </a:prstGeom>
        </p:spPr>
      </p:pic>
      <p:sp>
        <p:nvSpPr>
          <p:cNvPr id="2" name="Titre 1"/>
          <p:cNvSpPr>
            <a:spLocks noGrp="1"/>
          </p:cNvSpPr>
          <p:nvPr>
            <p:ph type="title"/>
          </p:nvPr>
        </p:nvSpPr>
        <p:spPr>
          <a:xfrm>
            <a:off x="457200" y="648072"/>
            <a:ext cx="8229600" cy="1052736"/>
          </a:xfrm>
        </p:spPr>
        <p:txBody>
          <a:bodyPr>
            <a:normAutofit/>
          </a:bodyPr>
          <a:lstStyle/>
          <a:p>
            <a:r>
              <a:rPr lang="fr-FR" sz="4000"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PLAN OF THE PRESENTATION</a:t>
            </a:r>
          </a:p>
        </p:txBody>
      </p:sp>
      <p:sp>
        <p:nvSpPr>
          <p:cNvPr id="3" name="Espace réservé du contenu 2"/>
          <p:cNvSpPr>
            <a:spLocks noGrp="1"/>
          </p:cNvSpPr>
          <p:nvPr>
            <p:ph idx="1"/>
          </p:nvPr>
        </p:nvSpPr>
        <p:spPr>
          <a:xfrm>
            <a:off x="457200" y="1988840"/>
            <a:ext cx="8229600" cy="3168352"/>
          </a:xfrm>
        </p:spPr>
        <p:txBody>
          <a:bodyPr>
            <a:normAutofit lnSpcReduction="10000"/>
          </a:bodyPr>
          <a:lstStyle/>
          <a:p>
            <a:pPr>
              <a:lnSpc>
                <a:spcPct val="150000"/>
              </a:lnSpc>
              <a:buFont typeface="Wingdings" pitchFamily="2" charset="2"/>
              <a:buChar char="Ø"/>
            </a:pPr>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V Boli" pitchFamily="2" charset="0"/>
                <a:cs typeface="MV Boli" pitchFamily="2" charset="0"/>
              </a:rPr>
              <a:t> ABSTRACT.</a:t>
            </a:r>
          </a:p>
          <a:p>
            <a:pPr>
              <a:lnSpc>
                <a:spcPct val="150000"/>
              </a:lnSpc>
              <a:buFont typeface="Wingdings" pitchFamily="2" charset="2"/>
              <a:buChar char="Ø"/>
            </a:pPr>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V Boli" pitchFamily="2" charset="0"/>
                <a:cs typeface="MV Boli" pitchFamily="2" charset="0"/>
              </a:rPr>
              <a:t> LIBRARIES.</a:t>
            </a:r>
          </a:p>
          <a:p>
            <a:pPr>
              <a:lnSpc>
                <a:spcPct val="150000"/>
              </a:lnSpc>
              <a:buFont typeface="Wingdings" pitchFamily="2" charset="2"/>
              <a:buChar char="Ø"/>
            </a:pPr>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V Boli" pitchFamily="2" charset="0"/>
                <a:cs typeface="MV Boli" pitchFamily="2" charset="0"/>
              </a:rPr>
              <a:t> ANANLYSZING THE DATA.</a:t>
            </a:r>
          </a:p>
          <a:p>
            <a:pPr>
              <a:lnSpc>
                <a:spcPct val="150000"/>
              </a:lnSpc>
              <a:buFont typeface="Wingdings" pitchFamily="2" charset="2"/>
              <a:buChar char="Ø"/>
            </a:pPr>
            <a:r>
              <a:rPr lang="fr-FR"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V Boli" pitchFamily="2" charset="0"/>
                <a:cs typeface="MV Boli" pitchFamily="2" charset="0"/>
              </a:rPr>
              <a:t> CONCLUSION.</a:t>
            </a:r>
            <a:endParaRPr lang="fr-FR" dirty="0"/>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2</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5755292"/>
            <a:ext cx="1080120" cy="966183"/>
          </a:xfrm>
          <a:prstGeom prst="rect">
            <a:avLst/>
          </a:prstGeom>
        </p:spPr>
      </p:pic>
      <p:cxnSp>
        <p:nvCxnSpPr>
          <p:cNvPr id="8" name="Connecteur droit 7">
            <a:extLst>
              <a:ext uri="{FF2B5EF4-FFF2-40B4-BE49-F238E27FC236}">
                <a16:creationId xmlns:a16="http://schemas.microsoft.com/office/drawing/2014/main" id="{EDF6C67A-44BF-498C-B2E2-70CAB60E8B18}"/>
              </a:ext>
            </a:extLst>
          </p:cNvPr>
          <p:cNvCxnSpPr>
            <a:cxnSpLocks/>
          </p:cNvCxnSpPr>
          <p:nvPr/>
        </p:nvCxnSpPr>
        <p:spPr>
          <a:xfrm>
            <a:off x="-36512" y="1556792"/>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0CB56CEF-18E0-4168-91DC-7AB407BF8D1F}"/>
              </a:ext>
            </a:extLst>
          </p:cNvPr>
          <p:cNvCxnSpPr>
            <a:cxnSpLocks/>
          </p:cNvCxnSpPr>
          <p:nvPr/>
        </p:nvCxnSpPr>
        <p:spPr>
          <a:xfrm>
            <a:off x="-36512" y="648072"/>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80512" cy="6858000"/>
          </a:xfrm>
          <a:prstGeom prst="rect">
            <a:avLst/>
          </a:prstGeom>
        </p:spPr>
      </p:pic>
      <p:sp>
        <p:nvSpPr>
          <p:cNvPr id="2" name="Titre 1"/>
          <p:cNvSpPr>
            <a:spLocks noGrp="1"/>
          </p:cNvSpPr>
          <p:nvPr>
            <p:ph type="title"/>
          </p:nvPr>
        </p:nvSpPr>
        <p:spPr>
          <a:xfrm>
            <a:off x="2777464" y="48693"/>
            <a:ext cx="3581652" cy="1058084"/>
          </a:xfrm>
        </p:spPr>
        <p:txBody>
          <a:bodyPr>
            <a:normAutofit/>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ABSTRACT</a:t>
            </a:r>
          </a:p>
        </p:txBody>
      </p:sp>
      <p:sp>
        <p:nvSpPr>
          <p:cNvPr id="3" name="Espace réservé du contenu 2"/>
          <p:cNvSpPr>
            <a:spLocks noGrp="1"/>
          </p:cNvSpPr>
          <p:nvPr>
            <p:ph idx="1"/>
          </p:nvPr>
        </p:nvSpPr>
        <p:spPr>
          <a:xfrm>
            <a:off x="453490" y="1531078"/>
            <a:ext cx="8229600" cy="4871567"/>
          </a:xfrm>
        </p:spPr>
        <p:txBody>
          <a:bodyPr>
            <a:normAutofit lnSpcReduction="10000"/>
          </a:bodyPr>
          <a:lstStyle/>
          <a:p>
            <a:pPr marL="0" indent="0" algn="just">
              <a:lnSpc>
                <a:spcPct val="150000"/>
              </a:lnSpc>
              <a:buNone/>
            </a:pPr>
            <a:r>
              <a:rPr lang="en-US" sz="2800" dirty="0">
                <a:solidFill>
                  <a:schemeClr val="bg1"/>
                </a:solidFill>
              </a:rPr>
              <a:t>         This dataset contains information on confirmed COVID-19 cases, deaths and hospitalizations in France from January 2020. It also contains information on departments and regions of France. With this data, we could create visualizations to show the evolution of COVID-19 cases over time, differences between regions and departments, or trends related to hospitalizations and deaths.</a:t>
            </a:r>
            <a:endParaRPr lang="fr-FR" sz="2800" dirty="0">
              <a:solidFill>
                <a:schemeClr val="bg1"/>
              </a:solidFill>
            </a:endParaRP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3</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013" y="94644"/>
            <a:ext cx="1080120" cy="966183"/>
          </a:xfrm>
          <a:prstGeom prst="rect">
            <a:avLst/>
          </a:prstGeom>
        </p:spPr>
      </p:pic>
      <p:cxnSp>
        <p:nvCxnSpPr>
          <p:cNvPr id="7" name="Connecteur droit 6">
            <a:extLst>
              <a:ext uri="{FF2B5EF4-FFF2-40B4-BE49-F238E27FC236}">
                <a16:creationId xmlns:a16="http://schemas.microsoft.com/office/drawing/2014/main" id="{6959AFD1-2163-402A-9F3E-AE0E7FEF162C}"/>
              </a:ext>
            </a:extLst>
          </p:cNvPr>
          <p:cNvCxnSpPr>
            <a:cxnSpLocks/>
          </p:cNvCxnSpPr>
          <p:nvPr/>
        </p:nvCxnSpPr>
        <p:spPr>
          <a:xfrm>
            <a:off x="-36512" y="1340768"/>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8" name="Connecteur droit 7">
            <a:extLst>
              <a:ext uri="{FF2B5EF4-FFF2-40B4-BE49-F238E27FC236}">
                <a16:creationId xmlns:a16="http://schemas.microsoft.com/office/drawing/2014/main" id="{C3DD94CC-A3DF-40C3-A029-D7FE564AF4D6}"/>
              </a:ext>
            </a:extLst>
          </p:cNvPr>
          <p:cNvCxnSpPr>
            <a:cxnSpLocks/>
          </p:cNvCxnSpPr>
          <p:nvPr/>
        </p:nvCxnSpPr>
        <p:spPr>
          <a:xfrm>
            <a:off x="-36512" y="1124744"/>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381485871"/>
      </p:ext>
    </p:extLst>
  </p:cSld>
  <p:clrMapOvr>
    <a:masterClrMapping/>
  </p:clrMapOvr>
  <p:transition>
    <p:blinds/>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29092" y="0"/>
            <a:ext cx="9144000" cy="6858000"/>
          </a:xfrm>
          <a:prstGeom prst="rect">
            <a:avLst/>
          </a:prstGeom>
        </p:spPr>
      </p:pic>
      <p:sp>
        <p:nvSpPr>
          <p:cNvPr id="2" name="Titre 1"/>
          <p:cNvSpPr>
            <a:spLocks noGrp="1"/>
          </p:cNvSpPr>
          <p:nvPr>
            <p:ph type="title"/>
          </p:nvPr>
        </p:nvSpPr>
        <p:spPr>
          <a:xfrm>
            <a:off x="2777464" y="72222"/>
            <a:ext cx="3581652" cy="1058084"/>
          </a:xfrm>
        </p:spPr>
        <p:txBody>
          <a:bodyPr>
            <a:normAutofit/>
          </a:bodyPr>
          <a:lstStyle/>
          <a:p>
            <a:r>
              <a:rPr lang="fr-FR" b="1" spc="50" dirty="0">
                <a:ln w="13500">
                  <a:solidFill>
                    <a:schemeClr val="accent1">
                      <a:shade val="2500"/>
                      <a:alpha val="6500"/>
                    </a:schemeClr>
                  </a:solidFill>
                  <a:prstDash val="solid"/>
                </a:ln>
                <a:solidFill>
                  <a:schemeClr val="accent6">
                    <a:lumMod val="60000"/>
                    <a:lumOff val="40000"/>
                    <a:alpha val="95000"/>
                  </a:schemeClr>
                </a:solidFill>
                <a:effectLst>
                  <a:innerShdw blurRad="50900" dist="38500" dir="13500000">
                    <a:srgbClr val="000000">
                      <a:alpha val="60000"/>
                    </a:srgbClr>
                  </a:innerShdw>
                </a:effectLst>
                <a:latin typeface="MV Boli" pitchFamily="2" charset="0"/>
                <a:cs typeface="MV Boli" pitchFamily="2" charset="0"/>
              </a:rPr>
              <a:t>LIBRARIES</a:t>
            </a:r>
            <a:endPar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endParaRPr>
          </a:p>
        </p:txBody>
      </p:sp>
      <p:sp>
        <p:nvSpPr>
          <p:cNvPr id="3" name="Espace réservé du contenu 2"/>
          <p:cNvSpPr>
            <a:spLocks noGrp="1"/>
          </p:cNvSpPr>
          <p:nvPr>
            <p:ph idx="1"/>
          </p:nvPr>
        </p:nvSpPr>
        <p:spPr>
          <a:xfrm>
            <a:off x="323158" y="1484783"/>
            <a:ext cx="8229600" cy="4871567"/>
          </a:xfrm>
        </p:spPr>
        <p:txBody>
          <a:bodyPr>
            <a:normAutofit fontScale="92500"/>
          </a:bodyPr>
          <a:lstStyle/>
          <a:p>
            <a:pPr marL="0" indent="0">
              <a:lnSpc>
                <a:spcPct val="150000"/>
              </a:lnSpc>
              <a:buNone/>
            </a:pPr>
            <a:r>
              <a:rPr lang="en-US" sz="2800" u="sng" dirty="0">
                <a:solidFill>
                  <a:schemeClr val="accent6">
                    <a:lumMod val="60000"/>
                    <a:lumOff val="40000"/>
                  </a:schemeClr>
                </a:solidFill>
              </a:rPr>
              <a:t>Corresponding data for this project are as follows.</a:t>
            </a:r>
          </a:p>
          <a:p>
            <a:pPr>
              <a:lnSpc>
                <a:spcPct val="150000"/>
              </a:lnSpc>
              <a:buFontTx/>
              <a:buChar char="-"/>
            </a:pPr>
            <a:r>
              <a:rPr lang="en-US"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The evolution of COVID-19 cases over time in France.</a:t>
            </a:r>
          </a:p>
          <a:p>
            <a:pPr>
              <a:lnSpc>
                <a:spcPct val="150000"/>
              </a:lnSpc>
              <a:buFontTx/>
              <a:buChar char="-"/>
            </a:pPr>
            <a:r>
              <a:rPr lang="en-US"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Differences between regions and departments.</a:t>
            </a:r>
          </a:p>
          <a:p>
            <a:pPr>
              <a:lnSpc>
                <a:spcPct val="150000"/>
              </a:lnSpc>
              <a:buFontTx/>
              <a:buChar char="-"/>
            </a:pPr>
            <a:r>
              <a:rPr lang="en-US"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Trends related to hospitalizations and deaths.</a:t>
            </a:r>
          </a:p>
          <a:p>
            <a:pPr marL="0" indent="0">
              <a:lnSpc>
                <a:spcPct val="150000"/>
              </a:lnSpc>
              <a:buNone/>
            </a:pP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The </a:t>
            </a:r>
            <a:r>
              <a:rPr lang="fr-FR" sz="28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link</a:t>
            </a: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 for </a:t>
            </a:r>
            <a:r>
              <a:rPr lang="fr-FR" sz="28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this</a:t>
            </a: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 </a:t>
            </a:r>
            <a:r>
              <a:rPr lang="fr-FR" sz="28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Dataset</a:t>
            </a: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 </a:t>
            </a:r>
            <a:r>
              <a:rPr lang="fr-FR" sz="28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is</a:t>
            </a: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 as </a:t>
            </a:r>
            <a:r>
              <a:rPr lang="fr-FR" sz="28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follows</a:t>
            </a:r>
            <a:r>
              <a:rPr lang="fr-FR" sz="28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rPr>
              <a:t> : </a:t>
            </a:r>
            <a:r>
              <a:rPr lang="fr-FR" sz="2800"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hlinkClick r:id="rId3">
                  <a:extLst>
                    <a:ext uri="{A12FA001-AC4F-418D-AE19-62706E023703}">
                      <ahyp:hlinkClr xmlns:ahyp="http://schemas.microsoft.com/office/drawing/2018/hyperlinkcolor" val="tx"/>
                    </a:ext>
                  </a:extLst>
                </a:hlinkClick>
              </a:rPr>
              <a:t>https://www.kaggle.com/datasets/hraouak/covid19-in-france</a:t>
            </a:r>
            <a:endParaRPr lang="fr-FR" sz="2800"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endParaRPr>
          </a:p>
          <a:p>
            <a:pPr marL="0" indent="0">
              <a:lnSpc>
                <a:spcPct val="150000"/>
              </a:lnSpc>
              <a:buNone/>
            </a:pPr>
            <a:endParaRPr lang="fr-FR" sz="2800" dirty="0">
              <a:solidFill>
                <a:schemeClr val="accent6">
                  <a:lumMod val="60000"/>
                  <a:lumOff val="40000"/>
                </a:schemeClr>
              </a:solidFill>
            </a:endParaRP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4</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158" y="118172"/>
            <a:ext cx="1080120" cy="966183"/>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340768"/>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1124744"/>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689064177"/>
      </p:ext>
    </p:extLst>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29092" y="0"/>
            <a:ext cx="9144000" cy="6858000"/>
          </a:xfrm>
          <a:prstGeom prst="rect">
            <a:avLst/>
          </a:prstGeom>
        </p:spPr>
      </p:pic>
      <p:sp>
        <p:nvSpPr>
          <p:cNvPr id="2" name="Titre 1"/>
          <p:cNvSpPr>
            <a:spLocks noGrp="1"/>
          </p:cNvSpPr>
          <p:nvPr>
            <p:ph type="title"/>
          </p:nvPr>
        </p:nvSpPr>
        <p:spPr>
          <a:xfrm>
            <a:off x="1638438" y="133401"/>
            <a:ext cx="6913138" cy="1058084"/>
          </a:xfrm>
        </p:spPr>
        <p:txBody>
          <a:bodyPr>
            <a:normAutofit/>
          </a:bodyPr>
          <a:lstStyle/>
          <a:p>
            <a:r>
              <a:rPr lang="fr-FR" b="1" spc="50" dirty="0">
                <a:ln w="13500">
                  <a:solidFill>
                    <a:schemeClr val="accent1">
                      <a:shade val="2500"/>
                      <a:alpha val="6500"/>
                    </a:schemeClr>
                  </a:solidFill>
                  <a:prstDash val="solid"/>
                </a:ln>
                <a:solidFill>
                  <a:schemeClr val="accent6">
                    <a:lumMod val="60000"/>
                    <a:lumOff val="40000"/>
                    <a:alpha val="95000"/>
                  </a:schemeClr>
                </a:solidFill>
                <a:effectLst>
                  <a:innerShdw blurRad="50900" dist="38500" dir="13500000">
                    <a:srgbClr val="000000">
                      <a:alpha val="60000"/>
                    </a:srgbClr>
                  </a:innerShdw>
                </a:effectLst>
                <a:latin typeface="MV Boli" pitchFamily="2" charset="0"/>
                <a:cs typeface="MV Boli" pitchFamily="2" charset="0"/>
              </a:rPr>
              <a:t>LIBRARIES</a:t>
            </a:r>
            <a:endPar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endParaRPr>
          </a:p>
        </p:txBody>
      </p:sp>
      <p:pic>
        <p:nvPicPr>
          <p:cNvPr id="10" name="Espace réservé du contenu 9">
            <a:extLst>
              <a:ext uri="{FF2B5EF4-FFF2-40B4-BE49-F238E27FC236}">
                <a16:creationId xmlns:a16="http://schemas.microsoft.com/office/drawing/2014/main" id="{C75AFB96-9570-429C-A681-C94A2498592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717" y="2250737"/>
            <a:ext cx="8901145" cy="4535977"/>
          </a:xfrm>
        </p:spPr>
      </p:pic>
      <p:sp>
        <p:nvSpPr>
          <p:cNvPr id="5" name="Espace réservé du numéro de diapositive 4"/>
          <p:cNvSpPr>
            <a:spLocks noGrp="1"/>
          </p:cNvSpPr>
          <p:nvPr>
            <p:ph type="sldNum" sz="quarter" idx="12"/>
          </p:nvPr>
        </p:nvSpPr>
        <p:spPr/>
        <p:txBody>
          <a:bodyPr/>
          <a:lstStyle/>
          <a:p>
            <a:fld id="{5DAE46C2-BBC1-4646-95C3-57042F6F9EE7}" type="slidenum">
              <a:rPr lang="fr-FR" smtClean="0"/>
              <a:pPr/>
              <a:t>5</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158" y="118172"/>
            <a:ext cx="1080120" cy="966183"/>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340768"/>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1124744"/>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11" name="Titre 1">
            <a:extLst>
              <a:ext uri="{FF2B5EF4-FFF2-40B4-BE49-F238E27FC236}">
                <a16:creationId xmlns:a16="http://schemas.microsoft.com/office/drawing/2014/main" id="{CEC6A49E-2023-4EC1-A406-92D0E4EAB143}"/>
              </a:ext>
            </a:extLst>
          </p:cNvPr>
          <p:cNvSpPr txBox="1">
            <a:spLocks/>
          </p:cNvSpPr>
          <p:nvPr/>
        </p:nvSpPr>
        <p:spPr>
          <a:xfrm>
            <a:off x="142770" y="1256261"/>
            <a:ext cx="7165533" cy="105808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Our </a:t>
            </a:r>
            <a:r>
              <a:rPr lang="fr-FR" sz="20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Dataset</a:t>
            </a:r>
            <a:r>
              <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 </a:t>
            </a:r>
            <a:r>
              <a:rPr lang="fr-FR" sz="20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continet</a:t>
            </a:r>
            <a:r>
              <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 668 </a:t>
            </a:r>
            <a:r>
              <a:rPr lang="fr-FR" sz="20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rows</a:t>
            </a:r>
            <a:r>
              <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 and 11 </a:t>
            </a:r>
            <a:r>
              <a:rPr lang="fr-FR" sz="2000" b="1" spc="50" dirty="0" err="1">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t>columns</a:t>
            </a:r>
            <a:br>
              <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rPr>
            </a:br>
            <a:r>
              <a:rPr lang="fr-FR" sz="2000"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hlinkClick r:id="rId5">
                  <a:extLst>
                    <a:ext uri="{A12FA001-AC4F-418D-AE19-62706E023703}">
                      <ahyp:hlinkClr xmlns:ahyp="http://schemas.microsoft.com/office/drawing/2018/hyperlinkcolor" val="tx"/>
                    </a:ext>
                  </a:extLst>
                </a:hlinkClick>
              </a:rPr>
              <a:t>https://www.kaggle.com/datasets/hraouak/covid19-in-france</a:t>
            </a:r>
            <a:endParaRPr lang="fr-FR" sz="20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latin typeface="MV Boli" pitchFamily="2" charset="0"/>
              <a:cs typeface="MV Boli" pitchFamily="2" charset="0"/>
            </a:endParaRPr>
          </a:p>
        </p:txBody>
      </p:sp>
    </p:spTree>
    <p:extLst>
      <p:ext uri="{BB962C8B-B14F-4D97-AF65-F5344CB8AC3E}">
        <p14:creationId xmlns:p14="http://schemas.microsoft.com/office/powerpoint/2010/main" val="1665124100"/>
      </p:ext>
    </p:extLst>
  </p:cSld>
  <p:clrMapOvr>
    <a:masterClrMapping/>
  </p:clrMapOvr>
  <p:transition>
    <p:blinds/>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96010" cy="6858000"/>
          </a:xfrm>
          <a:prstGeom prst="rect">
            <a:avLst/>
          </a:prstGeom>
        </p:spPr>
      </p:pic>
      <p:sp>
        <p:nvSpPr>
          <p:cNvPr id="2" name="Titre 1"/>
          <p:cNvSpPr>
            <a:spLocks noGrp="1"/>
          </p:cNvSpPr>
          <p:nvPr>
            <p:ph type="title"/>
          </p:nvPr>
        </p:nvSpPr>
        <p:spPr>
          <a:xfrm>
            <a:off x="1638438" y="133401"/>
            <a:ext cx="6913138" cy="671091"/>
          </a:xfrm>
        </p:spPr>
        <p:txBody>
          <a:bodyPr>
            <a:normAutofit fontScale="90000"/>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ANANLYSZING THE DATA</a:t>
            </a: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6</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158" y="118173"/>
            <a:ext cx="1008482" cy="902102"/>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268760"/>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1052736"/>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7" name="Espace réservé du contenu 6">
            <a:extLst>
              <a:ext uri="{FF2B5EF4-FFF2-40B4-BE49-F238E27FC236}">
                <a16:creationId xmlns:a16="http://schemas.microsoft.com/office/drawing/2014/main" id="{E30DC8BD-436D-4F7F-A743-1E3E314902F5}"/>
              </a:ext>
            </a:extLst>
          </p:cNvPr>
          <p:cNvSpPr>
            <a:spLocks noGrp="1"/>
          </p:cNvSpPr>
          <p:nvPr>
            <p:ph idx="1"/>
          </p:nvPr>
        </p:nvSpPr>
        <p:spPr>
          <a:xfrm>
            <a:off x="169005" y="1340770"/>
            <a:ext cx="8784976" cy="5517230"/>
          </a:xfrm>
        </p:spPr>
        <p:txBody>
          <a:bodyPr>
            <a:normAutofit fontScale="85000" lnSpcReduction="10000"/>
          </a:bodyPr>
          <a:lstStyle/>
          <a:p>
            <a:pPr marL="0" indent="0" algn="just">
              <a:buNone/>
            </a:pPr>
            <a:r>
              <a:rPr lang="en-US" sz="1800" b="0" i="0" dirty="0">
                <a:solidFill>
                  <a:schemeClr val="bg1"/>
                </a:solidFill>
                <a:effectLst/>
                <a:latin typeface="Söhne"/>
              </a:rPr>
              <a:t>The first cases were reported in January this year and since then the number of cases and deaths has increased rapidly.</a:t>
            </a:r>
          </a:p>
          <a:p>
            <a:pPr marL="0" indent="0" algn="just">
              <a:buNone/>
            </a:pPr>
            <a:r>
              <a:rPr lang="en-US" sz="1800" dirty="0">
                <a:solidFill>
                  <a:schemeClr val="bg1"/>
                </a:solidFill>
              </a:rPr>
              <a:t>Despite the efforts that France has made, it has experienced several waves of infections during the year, with peaks in cases in March, April, November and December 2020.</a:t>
            </a:r>
            <a:r>
              <a:rPr lang="en-US" sz="1800" dirty="0">
                <a:solidFill>
                  <a:schemeClr val="bg1"/>
                </a:solidFill>
                <a:latin typeface="Söhne"/>
              </a:rPr>
              <a:t> </a:t>
            </a:r>
            <a:r>
              <a:rPr lang="en-US" sz="1800" dirty="0">
                <a:solidFill>
                  <a:schemeClr val="bg1"/>
                </a:solidFill>
              </a:rPr>
              <a:t>As shown in the following graph :</a:t>
            </a: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endParaRPr lang="en-US" sz="1800" dirty="0">
              <a:solidFill>
                <a:schemeClr val="bg1"/>
              </a:solidFill>
            </a:endParaRPr>
          </a:p>
          <a:p>
            <a:pPr algn="ctr"/>
            <a:r>
              <a:rPr lang="en-US" sz="1600" dirty="0">
                <a:solidFill>
                  <a:srgbClr val="FF0000"/>
                </a:solidFill>
              </a:rPr>
              <a:t>Fig. (1): the evaluation of cases of COVID-19 in France and cases of death in time ”2020”.</a:t>
            </a:r>
            <a:endParaRPr lang="fr-FR" sz="1600" dirty="0">
              <a:solidFill>
                <a:srgbClr val="FF0000"/>
              </a:solidFill>
            </a:endParaRPr>
          </a:p>
        </p:txBody>
      </p:sp>
      <p:pic>
        <p:nvPicPr>
          <p:cNvPr id="13" name="Image 12">
            <a:extLst>
              <a:ext uri="{FF2B5EF4-FFF2-40B4-BE49-F238E27FC236}">
                <a16:creationId xmlns:a16="http://schemas.microsoft.com/office/drawing/2014/main" id="{DFDB48BC-BFFD-4EF3-AF6E-4102A4AC3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788" y="2420888"/>
            <a:ext cx="6303010" cy="4049420"/>
          </a:xfrm>
          <a:prstGeom prst="rect">
            <a:avLst/>
          </a:prstGeom>
        </p:spPr>
      </p:pic>
      <p:sp>
        <p:nvSpPr>
          <p:cNvPr id="14" name="Espace réservé du contenu 6">
            <a:extLst>
              <a:ext uri="{FF2B5EF4-FFF2-40B4-BE49-F238E27FC236}">
                <a16:creationId xmlns:a16="http://schemas.microsoft.com/office/drawing/2014/main" id="{B2DF47EB-3A5A-4C0F-828A-A3DB2729D126}"/>
              </a:ext>
            </a:extLst>
          </p:cNvPr>
          <p:cNvSpPr txBox="1">
            <a:spLocks/>
          </p:cNvSpPr>
          <p:nvPr/>
        </p:nvSpPr>
        <p:spPr>
          <a:xfrm>
            <a:off x="7092280" y="3429001"/>
            <a:ext cx="1944215" cy="504054"/>
          </a:xfrm>
          <a:prstGeom prst="rect">
            <a:avLst/>
          </a:prstGeom>
          <a:ln w="19050">
            <a:solidFill>
              <a:schemeClr val="bg1"/>
            </a:solidFill>
          </a:ln>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300" dirty="0">
                <a:solidFill>
                  <a:srgbClr val="00B0F0"/>
                </a:solidFill>
              </a:rPr>
              <a:t>TCC : Total Confirmed Cases</a:t>
            </a:r>
          </a:p>
          <a:p>
            <a:pPr marL="0" indent="0">
              <a:buFont typeface="Arial" pitchFamily="34" charset="0"/>
              <a:buNone/>
            </a:pPr>
            <a:r>
              <a:rPr lang="en-US" sz="1300" dirty="0">
                <a:solidFill>
                  <a:srgbClr val="FF0000"/>
                </a:solidFill>
              </a:rPr>
              <a:t>THD : Total Hospital Deaths </a:t>
            </a:r>
            <a:endParaRPr lang="fr-FR" sz="1300" dirty="0">
              <a:solidFill>
                <a:srgbClr val="FF0000"/>
              </a:solidFill>
            </a:endParaRPr>
          </a:p>
        </p:txBody>
      </p:sp>
    </p:spTree>
    <p:extLst>
      <p:ext uri="{BB962C8B-B14F-4D97-AF65-F5344CB8AC3E}">
        <p14:creationId xmlns:p14="http://schemas.microsoft.com/office/powerpoint/2010/main" val="2482287461"/>
      </p:ext>
    </p:extLst>
  </p:cSld>
  <p:clrMapOvr>
    <a:masterClrMapping/>
  </p:clrMapOvr>
  <p:transition>
    <p:blind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96010" cy="6858000"/>
          </a:xfrm>
          <a:prstGeom prst="rect">
            <a:avLst/>
          </a:prstGeom>
        </p:spPr>
      </p:pic>
      <p:sp>
        <p:nvSpPr>
          <p:cNvPr id="2" name="Titre 1"/>
          <p:cNvSpPr>
            <a:spLocks noGrp="1"/>
          </p:cNvSpPr>
          <p:nvPr>
            <p:ph type="title"/>
          </p:nvPr>
        </p:nvSpPr>
        <p:spPr>
          <a:xfrm>
            <a:off x="1638438" y="32314"/>
            <a:ext cx="6913138" cy="897630"/>
          </a:xfrm>
        </p:spPr>
        <p:txBody>
          <a:bodyPr>
            <a:normAutofit fontScale="90000"/>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ANANLYSZING THE DATA</a:t>
            </a: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7</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44625"/>
            <a:ext cx="1007742" cy="901440"/>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196752"/>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980728"/>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7" name="Espace réservé du contenu 6">
            <a:extLst>
              <a:ext uri="{FF2B5EF4-FFF2-40B4-BE49-F238E27FC236}">
                <a16:creationId xmlns:a16="http://schemas.microsoft.com/office/drawing/2014/main" id="{E30DC8BD-436D-4F7F-A743-1E3E314902F5}"/>
              </a:ext>
            </a:extLst>
          </p:cNvPr>
          <p:cNvSpPr>
            <a:spLocks noGrp="1"/>
          </p:cNvSpPr>
          <p:nvPr>
            <p:ph idx="1"/>
          </p:nvPr>
        </p:nvSpPr>
        <p:spPr>
          <a:xfrm>
            <a:off x="121423" y="1377940"/>
            <a:ext cx="8801833" cy="5468267"/>
          </a:xfrm>
        </p:spPr>
        <p:txBody>
          <a:bodyPr>
            <a:normAutofit fontScale="92500" lnSpcReduction="20000"/>
          </a:bodyPr>
          <a:lstStyle/>
          <a:p>
            <a:pPr marL="0" indent="0" algn="just">
              <a:buNone/>
            </a:pPr>
            <a:r>
              <a:rPr lang="en-US" sz="1800" b="0" i="0" dirty="0">
                <a:solidFill>
                  <a:schemeClr val="bg1"/>
                </a:solidFill>
                <a:effectLst/>
                <a:latin typeface="Söhne"/>
              </a:rPr>
              <a:t>       In 2021, France began rolling out COVID-19 vaccines, prioritizing those most at risk. The vaccination campaign accelerated during the year and from June 2021, France opened up vaccination to all adults. </a:t>
            </a:r>
          </a:p>
          <a:p>
            <a:pPr marL="0" indent="0" algn="just">
              <a:buNone/>
            </a:pPr>
            <a:r>
              <a:rPr lang="en-US" sz="1800" b="0" i="0" dirty="0">
                <a:solidFill>
                  <a:schemeClr val="bg1"/>
                </a:solidFill>
                <a:effectLst/>
                <a:latin typeface="Söhne"/>
              </a:rPr>
              <a:t>       Despite these efforts, France still experienced a third wave of the epidemic during the fall and winter of 2021, with record levels of cases and deaths. </a:t>
            </a:r>
            <a:r>
              <a:rPr lang="en-US" sz="1800" dirty="0">
                <a:solidFill>
                  <a:schemeClr val="bg1"/>
                </a:solidFill>
              </a:rPr>
              <a:t>As shown in the following graph :</a:t>
            </a:r>
          </a:p>
          <a:p>
            <a:endParaRPr lang="en-US" sz="1800" dirty="0">
              <a:solidFill>
                <a:schemeClr val="bg1"/>
              </a:solidFill>
            </a:endParaRPr>
          </a:p>
          <a:p>
            <a:pPr marL="0" indent="0">
              <a:buNone/>
            </a:pPr>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pPr algn="ctr"/>
            <a:endParaRPr lang="en-US" sz="1600" dirty="0">
              <a:solidFill>
                <a:srgbClr val="FF0000"/>
              </a:solidFill>
            </a:endParaRPr>
          </a:p>
          <a:p>
            <a:pPr algn="ctr"/>
            <a:endParaRPr lang="en-US" sz="1600" dirty="0">
              <a:solidFill>
                <a:srgbClr val="FF0000"/>
              </a:solidFill>
            </a:endParaRPr>
          </a:p>
          <a:p>
            <a:pPr algn="ctr"/>
            <a:endParaRPr lang="en-US" sz="1600" dirty="0">
              <a:solidFill>
                <a:srgbClr val="FF0000"/>
              </a:solidFill>
            </a:endParaRPr>
          </a:p>
          <a:p>
            <a:pPr algn="ctr"/>
            <a:endParaRPr lang="en-US" sz="1600" dirty="0">
              <a:solidFill>
                <a:srgbClr val="FF0000"/>
              </a:solidFill>
            </a:endParaRPr>
          </a:p>
          <a:p>
            <a:pPr algn="ctr"/>
            <a:r>
              <a:rPr lang="en-US" sz="1600" dirty="0">
                <a:solidFill>
                  <a:srgbClr val="FF0000"/>
                </a:solidFill>
              </a:rPr>
              <a:t>Fig. (2): the evaluation of cases of COVID-19 in France and cases of death in time ”2021”.</a:t>
            </a:r>
            <a:endParaRPr lang="fr-FR" sz="1600" dirty="0">
              <a:solidFill>
                <a:srgbClr val="FF0000"/>
              </a:solidFill>
            </a:endParaRPr>
          </a:p>
        </p:txBody>
      </p:sp>
      <p:pic>
        <p:nvPicPr>
          <p:cNvPr id="10" name="Image 9">
            <a:extLst>
              <a:ext uri="{FF2B5EF4-FFF2-40B4-BE49-F238E27FC236}">
                <a16:creationId xmlns:a16="http://schemas.microsoft.com/office/drawing/2014/main" id="{569B4E69-C296-4120-9704-5144A5A248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489" y="2614047"/>
            <a:ext cx="5960775" cy="3839289"/>
          </a:xfrm>
          <a:prstGeom prst="rect">
            <a:avLst/>
          </a:prstGeom>
        </p:spPr>
      </p:pic>
      <p:sp>
        <p:nvSpPr>
          <p:cNvPr id="12" name="Espace réservé du contenu 6">
            <a:extLst>
              <a:ext uri="{FF2B5EF4-FFF2-40B4-BE49-F238E27FC236}">
                <a16:creationId xmlns:a16="http://schemas.microsoft.com/office/drawing/2014/main" id="{CD787EAF-E99B-4752-9424-199178A116F8}"/>
              </a:ext>
            </a:extLst>
          </p:cNvPr>
          <p:cNvSpPr txBox="1">
            <a:spLocks/>
          </p:cNvSpPr>
          <p:nvPr/>
        </p:nvSpPr>
        <p:spPr>
          <a:xfrm>
            <a:off x="7090972" y="3860046"/>
            <a:ext cx="1944215" cy="504054"/>
          </a:xfrm>
          <a:prstGeom prst="rect">
            <a:avLst/>
          </a:prstGeom>
          <a:ln w="19050">
            <a:solidFill>
              <a:schemeClr val="bg1"/>
            </a:solidFill>
          </a:ln>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300" dirty="0">
                <a:solidFill>
                  <a:srgbClr val="00B0F0"/>
                </a:solidFill>
              </a:rPr>
              <a:t>TCC : Total Confirmed Cases</a:t>
            </a:r>
          </a:p>
          <a:p>
            <a:pPr marL="0" indent="0">
              <a:buFont typeface="Arial" pitchFamily="34" charset="0"/>
              <a:buNone/>
            </a:pPr>
            <a:r>
              <a:rPr lang="en-US" sz="1300" dirty="0">
                <a:solidFill>
                  <a:srgbClr val="FF0000"/>
                </a:solidFill>
              </a:rPr>
              <a:t>THD : Total Hospital Deaths </a:t>
            </a:r>
            <a:endParaRPr lang="fr-FR" sz="1300" dirty="0">
              <a:solidFill>
                <a:srgbClr val="FF0000"/>
              </a:solidFill>
            </a:endParaRPr>
          </a:p>
        </p:txBody>
      </p:sp>
    </p:spTree>
    <p:extLst>
      <p:ext uri="{BB962C8B-B14F-4D97-AF65-F5344CB8AC3E}">
        <p14:creationId xmlns:p14="http://schemas.microsoft.com/office/powerpoint/2010/main" val="667135427"/>
      </p:ext>
    </p:extLst>
  </p:cSld>
  <p:clrMapOvr>
    <a:masterClrMapping/>
  </p:clrMapOvr>
  <p:transition>
    <p:blinds/>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96010" cy="6858000"/>
          </a:xfrm>
          <a:prstGeom prst="rect">
            <a:avLst/>
          </a:prstGeom>
        </p:spPr>
      </p:pic>
      <p:sp>
        <p:nvSpPr>
          <p:cNvPr id="2" name="Titre 1"/>
          <p:cNvSpPr>
            <a:spLocks noGrp="1"/>
          </p:cNvSpPr>
          <p:nvPr>
            <p:ph type="title"/>
          </p:nvPr>
        </p:nvSpPr>
        <p:spPr>
          <a:xfrm>
            <a:off x="1638438" y="32314"/>
            <a:ext cx="6913138" cy="897630"/>
          </a:xfrm>
        </p:spPr>
        <p:txBody>
          <a:bodyPr>
            <a:normAutofit fontScale="90000"/>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ANANLYSZING THE DATA</a:t>
            </a: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8</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44625"/>
            <a:ext cx="1007742" cy="901440"/>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196752"/>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980728"/>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7" name="Espace réservé du contenu 6">
            <a:extLst>
              <a:ext uri="{FF2B5EF4-FFF2-40B4-BE49-F238E27FC236}">
                <a16:creationId xmlns:a16="http://schemas.microsoft.com/office/drawing/2014/main" id="{E30DC8BD-436D-4F7F-A743-1E3E314902F5}"/>
              </a:ext>
            </a:extLst>
          </p:cNvPr>
          <p:cNvSpPr>
            <a:spLocks noGrp="1"/>
          </p:cNvSpPr>
          <p:nvPr>
            <p:ph idx="1"/>
          </p:nvPr>
        </p:nvSpPr>
        <p:spPr>
          <a:xfrm>
            <a:off x="323528" y="1293243"/>
            <a:ext cx="8638881" cy="5428231"/>
          </a:xfrm>
        </p:spPr>
        <p:txBody>
          <a:bodyPr>
            <a:normAutofit fontScale="92500" lnSpcReduction="20000"/>
          </a:bodyPr>
          <a:lstStyle/>
          <a:p>
            <a:pPr marL="0" indent="0">
              <a:buNone/>
            </a:pPr>
            <a:r>
              <a:rPr lang="en-US" sz="1800" dirty="0">
                <a:solidFill>
                  <a:schemeClr val="bg1"/>
                </a:solidFill>
              </a:rPr>
              <a:t>         As of 2021, France has recorded over 4 million confirmed cases of COVID-19 and over 100,000 deaths related to the disease. Infection rates have increased significantly over the past few months, due to the spread of new variants of the virus.</a:t>
            </a:r>
          </a:p>
          <a:p>
            <a:pPr marL="0" indent="0">
              <a:buNone/>
            </a:pPr>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endParaRPr lang="en-US" sz="1800" dirty="0">
              <a:solidFill>
                <a:schemeClr val="bg1"/>
              </a:solidFill>
            </a:endParaRPr>
          </a:p>
          <a:p>
            <a:pPr algn="ctr"/>
            <a:endParaRPr lang="en-US" sz="1600" dirty="0">
              <a:solidFill>
                <a:srgbClr val="FF0000"/>
              </a:solidFill>
            </a:endParaRPr>
          </a:p>
          <a:p>
            <a:pPr algn="ctr"/>
            <a:endParaRPr lang="en-US" sz="1600" dirty="0">
              <a:solidFill>
                <a:srgbClr val="FF0000"/>
              </a:solidFill>
            </a:endParaRPr>
          </a:p>
          <a:p>
            <a:pPr marL="0" indent="0" algn="ctr">
              <a:buNone/>
            </a:pPr>
            <a:endParaRPr lang="en-US" sz="1600" dirty="0">
              <a:solidFill>
                <a:srgbClr val="FF0000"/>
              </a:solidFill>
            </a:endParaRPr>
          </a:p>
          <a:p>
            <a:pPr marL="0" indent="0" algn="ctr">
              <a:buNone/>
            </a:pPr>
            <a:endParaRPr lang="en-US" sz="1600" dirty="0">
              <a:solidFill>
                <a:srgbClr val="FF0000"/>
              </a:solidFill>
            </a:endParaRPr>
          </a:p>
          <a:p>
            <a:pPr algn="ctr"/>
            <a:endParaRPr lang="en-US" sz="1600" dirty="0">
              <a:solidFill>
                <a:srgbClr val="FF0000"/>
              </a:solidFill>
            </a:endParaRPr>
          </a:p>
          <a:p>
            <a:pPr algn="ctr"/>
            <a:endParaRPr lang="en-US" sz="1600" dirty="0">
              <a:solidFill>
                <a:srgbClr val="FF0000"/>
              </a:solidFill>
            </a:endParaRPr>
          </a:p>
          <a:p>
            <a:pPr algn="ctr"/>
            <a:r>
              <a:rPr lang="en-US" sz="1600" dirty="0">
                <a:solidFill>
                  <a:srgbClr val="FF0000"/>
                </a:solidFill>
              </a:rPr>
              <a:t>Fig. (3): The evaluation of cases of COVID-19 in France and cases of death in time ”2020 and 2021”.</a:t>
            </a:r>
            <a:endParaRPr lang="fr-FR" sz="1600" dirty="0">
              <a:solidFill>
                <a:srgbClr val="FF0000"/>
              </a:solidFill>
            </a:endParaRPr>
          </a:p>
        </p:txBody>
      </p:sp>
      <p:pic>
        <p:nvPicPr>
          <p:cNvPr id="11" name="Image 10">
            <a:extLst>
              <a:ext uri="{FF2B5EF4-FFF2-40B4-BE49-F238E27FC236}">
                <a16:creationId xmlns:a16="http://schemas.microsoft.com/office/drawing/2014/main" id="{22F00552-7C8D-4F6C-ACF6-67912A2FEA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528" y="2097592"/>
            <a:ext cx="6624736" cy="4258758"/>
          </a:xfrm>
          <a:prstGeom prst="rect">
            <a:avLst/>
          </a:prstGeom>
        </p:spPr>
      </p:pic>
      <p:sp>
        <p:nvSpPr>
          <p:cNvPr id="12" name="Espace réservé du contenu 6">
            <a:extLst>
              <a:ext uri="{FF2B5EF4-FFF2-40B4-BE49-F238E27FC236}">
                <a16:creationId xmlns:a16="http://schemas.microsoft.com/office/drawing/2014/main" id="{79BA4C3F-73CE-4810-A190-864B91B1719B}"/>
              </a:ext>
            </a:extLst>
          </p:cNvPr>
          <p:cNvSpPr txBox="1">
            <a:spLocks/>
          </p:cNvSpPr>
          <p:nvPr/>
        </p:nvSpPr>
        <p:spPr>
          <a:xfrm>
            <a:off x="7092280" y="3429001"/>
            <a:ext cx="1944215" cy="504054"/>
          </a:xfrm>
          <a:prstGeom prst="rect">
            <a:avLst/>
          </a:prstGeom>
          <a:ln w="19050">
            <a:solidFill>
              <a:schemeClr val="bg1"/>
            </a:solidFill>
          </a:ln>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300" dirty="0">
                <a:solidFill>
                  <a:srgbClr val="00B0F0"/>
                </a:solidFill>
              </a:rPr>
              <a:t>TCC : Total Confirmed Cases</a:t>
            </a:r>
          </a:p>
          <a:p>
            <a:pPr marL="0" indent="0">
              <a:buFont typeface="Arial" pitchFamily="34" charset="0"/>
              <a:buNone/>
            </a:pPr>
            <a:r>
              <a:rPr lang="en-US" sz="1300" dirty="0">
                <a:solidFill>
                  <a:srgbClr val="FF0000"/>
                </a:solidFill>
              </a:rPr>
              <a:t>THD : Total Hospital Deaths </a:t>
            </a:r>
            <a:endParaRPr lang="fr-FR" sz="1300" dirty="0">
              <a:solidFill>
                <a:srgbClr val="FF0000"/>
              </a:solidFill>
            </a:endParaRPr>
          </a:p>
        </p:txBody>
      </p:sp>
    </p:spTree>
    <p:extLst>
      <p:ext uri="{BB962C8B-B14F-4D97-AF65-F5344CB8AC3E}">
        <p14:creationId xmlns:p14="http://schemas.microsoft.com/office/powerpoint/2010/main" val="2906561396"/>
      </p:ext>
    </p:extLst>
  </p:cSld>
  <p:clrMapOvr>
    <a:masterClrMapping/>
  </p:clrMapOvr>
  <p:transition>
    <p:blinds/>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96010" cy="6858000"/>
          </a:xfrm>
          <a:prstGeom prst="rect">
            <a:avLst/>
          </a:prstGeom>
        </p:spPr>
      </p:pic>
      <p:sp>
        <p:nvSpPr>
          <p:cNvPr id="2" name="Titre 1"/>
          <p:cNvSpPr>
            <a:spLocks noGrp="1"/>
          </p:cNvSpPr>
          <p:nvPr>
            <p:ph type="title"/>
          </p:nvPr>
        </p:nvSpPr>
        <p:spPr>
          <a:xfrm>
            <a:off x="1638438" y="32314"/>
            <a:ext cx="6913138" cy="897630"/>
          </a:xfrm>
        </p:spPr>
        <p:txBody>
          <a:bodyPr>
            <a:normAutofit fontScale="90000"/>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ANANLYSZING THE DATA</a:t>
            </a: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9</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44625"/>
            <a:ext cx="1007742" cy="901440"/>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0" y="1196752"/>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36512" y="980728"/>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7" name="Espace réservé du contenu 6">
            <a:extLst>
              <a:ext uri="{FF2B5EF4-FFF2-40B4-BE49-F238E27FC236}">
                <a16:creationId xmlns:a16="http://schemas.microsoft.com/office/drawing/2014/main" id="{E30DC8BD-436D-4F7F-A743-1E3E314902F5}"/>
              </a:ext>
            </a:extLst>
          </p:cNvPr>
          <p:cNvSpPr>
            <a:spLocks noGrp="1"/>
          </p:cNvSpPr>
          <p:nvPr>
            <p:ph idx="1"/>
          </p:nvPr>
        </p:nvSpPr>
        <p:spPr>
          <a:xfrm>
            <a:off x="323528" y="1196752"/>
            <a:ext cx="8638881" cy="5616623"/>
          </a:xfrm>
        </p:spPr>
        <p:txBody>
          <a:bodyPr>
            <a:normAutofit fontScale="92500" lnSpcReduction="20000"/>
          </a:bodyPr>
          <a:lstStyle/>
          <a:p>
            <a:pPr marL="0" indent="0">
              <a:buNone/>
            </a:pPr>
            <a:r>
              <a:rPr lang="en-US" sz="1800" dirty="0">
                <a:solidFill>
                  <a:schemeClr val="bg1"/>
                </a:solidFill>
              </a:rPr>
              <a:t>         Regarding hospitalizations, the number of people hospitalized for COVID-19 in France reached its peak in April 2020, with around 28,000 people hospitalized. Since then, the number of people hospitalized has fluctuated, but increased again at the end of 2021 due to the second wave of the epidemic. Hospital capacity was stretched during the first wave of the outbreak, leading to restrictions on medical care for patients with other conditions.</a:t>
            </a: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pPr marL="0" indent="0">
              <a:buNone/>
            </a:pPr>
            <a:endParaRPr lang="en-US" sz="1800" dirty="0">
              <a:solidFill>
                <a:schemeClr val="bg1"/>
              </a:solidFill>
            </a:endParaRPr>
          </a:p>
          <a:p>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endParaRPr lang="en-US" sz="1800" dirty="0">
              <a:solidFill>
                <a:schemeClr val="bg1"/>
              </a:solidFill>
            </a:endParaRPr>
          </a:p>
          <a:p>
            <a:pPr algn="ctr"/>
            <a:endParaRPr lang="en-US" sz="1600" dirty="0">
              <a:solidFill>
                <a:srgbClr val="FF0000"/>
              </a:solidFill>
            </a:endParaRPr>
          </a:p>
          <a:p>
            <a:pPr algn="ctr"/>
            <a:endParaRPr lang="en-US" sz="1600" dirty="0">
              <a:solidFill>
                <a:srgbClr val="FF0000"/>
              </a:solidFill>
            </a:endParaRPr>
          </a:p>
          <a:p>
            <a:pPr marL="0" indent="0" algn="ctr">
              <a:buNone/>
            </a:pPr>
            <a:endParaRPr lang="en-US" sz="1600" dirty="0">
              <a:solidFill>
                <a:srgbClr val="FF0000"/>
              </a:solidFill>
            </a:endParaRPr>
          </a:p>
          <a:p>
            <a:pPr marL="0" indent="0" algn="ctr">
              <a:buNone/>
            </a:pPr>
            <a:endParaRPr lang="en-US" sz="1600" dirty="0">
              <a:solidFill>
                <a:srgbClr val="FF0000"/>
              </a:solidFill>
            </a:endParaRPr>
          </a:p>
          <a:p>
            <a:pPr algn="ctr"/>
            <a:endParaRPr lang="en-US" sz="1600" dirty="0">
              <a:solidFill>
                <a:srgbClr val="FF0000"/>
              </a:solidFill>
            </a:endParaRPr>
          </a:p>
          <a:p>
            <a:pPr marL="0" indent="0" algn="ctr">
              <a:buNone/>
            </a:pPr>
            <a:endParaRPr lang="en-US" sz="1600" dirty="0">
              <a:solidFill>
                <a:srgbClr val="FF0000"/>
              </a:solidFill>
            </a:endParaRPr>
          </a:p>
          <a:p>
            <a:pPr algn="ctr"/>
            <a:endParaRPr lang="en-US" sz="1600" dirty="0">
              <a:solidFill>
                <a:srgbClr val="FF0000"/>
              </a:solidFill>
            </a:endParaRPr>
          </a:p>
          <a:p>
            <a:pPr algn="ctr"/>
            <a:r>
              <a:rPr lang="en-US" sz="1600" dirty="0">
                <a:solidFill>
                  <a:srgbClr val="FF0000"/>
                </a:solidFill>
              </a:rPr>
              <a:t>Fig. (4): The evaluation of deaths and hospitalizations in France from “January 2020”.</a:t>
            </a:r>
            <a:endParaRPr lang="fr-FR" sz="1600" dirty="0">
              <a:solidFill>
                <a:srgbClr val="FF0000"/>
              </a:solidFill>
            </a:endParaRPr>
          </a:p>
        </p:txBody>
      </p:sp>
      <p:pic>
        <p:nvPicPr>
          <p:cNvPr id="10" name="Image 9">
            <a:extLst>
              <a:ext uri="{FF2B5EF4-FFF2-40B4-BE49-F238E27FC236}">
                <a16:creationId xmlns:a16="http://schemas.microsoft.com/office/drawing/2014/main" id="{6D104BC7-7032-4C84-B6FC-DE85188A95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71" y="2348880"/>
            <a:ext cx="6687483" cy="4077269"/>
          </a:xfrm>
          <a:prstGeom prst="rect">
            <a:avLst/>
          </a:prstGeom>
        </p:spPr>
      </p:pic>
      <p:sp>
        <p:nvSpPr>
          <p:cNvPr id="12" name="Espace réservé du contenu 6">
            <a:extLst>
              <a:ext uri="{FF2B5EF4-FFF2-40B4-BE49-F238E27FC236}">
                <a16:creationId xmlns:a16="http://schemas.microsoft.com/office/drawing/2014/main" id="{1CA49909-E0B2-4FAB-A48E-277F35800FEC}"/>
              </a:ext>
            </a:extLst>
          </p:cNvPr>
          <p:cNvSpPr txBox="1">
            <a:spLocks/>
          </p:cNvSpPr>
          <p:nvPr/>
        </p:nvSpPr>
        <p:spPr>
          <a:xfrm>
            <a:off x="6804248" y="3532841"/>
            <a:ext cx="2304256" cy="760256"/>
          </a:xfrm>
          <a:prstGeom prst="rect">
            <a:avLst/>
          </a:prstGeom>
          <a:ln w="19050">
            <a:solidFill>
              <a:schemeClr val="bg1"/>
            </a:solidFill>
          </a:ln>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300" dirty="0">
                <a:solidFill>
                  <a:srgbClr val="00B0F0"/>
                </a:solidFill>
              </a:rPr>
              <a:t>PH : Patients Hospitalizes </a:t>
            </a:r>
          </a:p>
          <a:p>
            <a:pPr marL="0" indent="0">
              <a:buFont typeface="Arial" pitchFamily="34" charset="0"/>
              <a:buNone/>
            </a:pPr>
            <a:r>
              <a:rPr lang="en-US" sz="1300" dirty="0">
                <a:solidFill>
                  <a:srgbClr val="00B050"/>
                </a:solidFill>
              </a:rPr>
              <a:t>NPH: New Patients Hospitalizes</a:t>
            </a:r>
          </a:p>
          <a:p>
            <a:pPr marL="0" indent="0">
              <a:buFont typeface="Arial" pitchFamily="34" charset="0"/>
              <a:buNone/>
            </a:pPr>
            <a:r>
              <a:rPr lang="en-US" sz="1300" dirty="0">
                <a:solidFill>
                  <a:srgbClr val="FF0000"/>
                </a:solidFill>
              </a:rPr>
              <a:t>PC : Patients Cured</a:t>
            </a:r>
            <a:endParaRPr lang="fr-FR" sz="1300" dirty="0">
              <a:solidFill>
                <a:srgbClr val="FF0000"/>
              </a:solidFill>
            </a:endParaRPr>
          </a:p>
        </p:txBody>
      </p:sp>
    </p:spTree>
    <p:extLst>
      <p:ext uri="{BB962C8B-B14F-4D97-AF65-F5344CB8AC3E}">
        <p14:creationId xmlns:p14="http://schemas.microsoft.com/office/powerpoint/2010/main" val="3573292987"/>
      </p:ext>
    </p:extLst>
  </p:cSld>
  <p:clrMapOvr>
    <a:masterClrMapping/>
  </p:clrMapOvr>
  <p:transition>
    <p:blinds/>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20.jpg"/>
          <p:cNvPicPr>
            <a:picLocks noChangeAspect="1"/>
          </p:cNvPicPr>
          <p:nvPr/>
        </p:nvPicPr>
        <p:blipFill>
          <a:blip r:embed="rId2" cstate="print">
            <a:lum bright="-10000"/>
          </a:blip>
          <a:stretch>
            <a:fillRect/>
          </a:stretch>
        </p:blipFill>
        <p:spPr>
          <a:xfrm>
            <a:off x="-36512" y="0"/>
            <a:ext cx="9196010" cy="6858000"/>
          </a:xfrm>
          <a:prstGeom prst="rect">
            <a:avLst/>
          </a:prstGeom>
        </p:spPr>
      </p:pic>
      <p:sp>
        <p:nvSpPr>
          <p:cNvPr id="2" name="Titre 1"/>
          <p:cNvSpPr>
            <a:spLocks noGrp="1"/>
          </p:cNvSpPr>
          <p:nvPr>
            <p:ph type="title"/>
          </p:nvPr>
        </p:nvSpPr>
        <p:spPr>
          <a:xfrm>
            <a:off x="1115431" y="721487"/>
            <a:ext cx="6913138" cy="897630"/>
          </a:xfrm>
        </p:spPr>
        <p:txBody>
          <a:bodyPr>
            <a:normAutofit/>
          </a:bodyPr>
          <a:lstStyle/>
          <a:p>
            <a:r>
              <a:rPr lang="fr-FR" b="1" spc="50" dirty="0">
                <a:ln w="13500">
                  <a:solidFill>
                    <a:schemeClr val="accent1">
                      <a:shade val="2500"/>
                      <a:alpha val="6500"/>
                    </a:schemeClr>
                  </a:solidFill>
                  <a:prstDash val="solid"/>
                </a:ln>
                <a:solidFill>
                  <a:schemeClr val="accent6">
                    <a:lumMod val="60000"/>
                    <a:lumOff val="40000"/>
                  </a:schemeClr>
                </a:solidFill>
                <a:effectLst>
                  <a:innerShdw blurRad="50900" dist="38500" dir="13500000">
                    <a:srgbClr val="000000">
                      <a:alpha val="60000"/>
                    </a:srgbClr>
                  </a:innerShdw>
                </a:effectLst>
                <a:latin typeface="MV Boli" pitchFamily="2" charset="0"/>
                <a:cs typeface="MV Boli" pitchFamily="2" charset="0"/>
              </a:rPr>
              <a:t>CONCLUSION</a:t>
            </a:r>
          </a:p>
        </p:txBody>
      </p:sp>
      <p:sp>
        <p:nvSpPr>
          <p:cNvPr id="5" name="Espace réservé du numéro de diapositive 4"/>
          <p:cNvSpPr>
            <a:spLocks noGrp="1"/>
          </p:cNvSpPr>
          <p:nvPr>
            <p:ph type="sldNum" sz="quarter" idx="12"/>
          </p:nvPr>
        </p:nvSpPr>
        <p:spPr/>
        <p:txBody>
          <a:bodyPr/>
          <a:lstStyle/>
          <a:p>
            <a:fld id="{5DAE46C2-BBC1-4646-95C3-57042F6F9EE7}" type="slidenum">
              <a:rPr lang="fr-FR" smtClean="0"/>
              <a:pPr/>
              <a:t>10</a:t>
            </a:fld>
            <a:endParaRPr lang="fr-FR" dirty="0"/>
          </a:p>
        </p:txBody>
      </p:sp>
      <p:pic>
        <p:nvPicPr>
          <p:cNvPr id="6" name="Image 5">
            <a:extLst>
              <a:ext uri="{FF2B5EF4-FFF2-40B4-BE49-F238E27FC236}">
                <a16:creationId xmlns:a16="http://schemas.microsoft.com/office/drawing/2014/main" id="{F1E58B65-3F7F-40C6-9F95-FBA9E660B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39" y="5637472"/>
            <a:ext cx="1007742" cy="901440"/>
          </a:xfrm>
          <a:prstGeom prst="rect">
            <a:avLst/>
          </a:prstGeom>
        </p:spPr>
      </p:pic>
      <p:cxnSp>
        <p:nvCxnSpPr>
          <p:cNvPr id="8" name="Connecteur droit 7">
            <a:extLst>
              <a:ext uri="{FF2B5EF4-FFF2-40B4-BE49-F238E27FC236}">
                <a16:creationId xmlns:a16="http://schemas.microsoft.com/office/drawing/2014/main" id="{B8FFF597-ED0B-4AA9-BB58-6BBC0D4F3DEB}"/>
              </a:ext>
            </a:extLst>
          </p:cNvPr>
          <p:cNvCxnSpPr>
            <a:cxnSpLocks/>
          </p:cNvCxnSpPr>
          <p:nvPr/>
        </p:nvCxnSpPr>
        <p:spPr>
          <a:xfrm>
            <a:off x="-36512" y="1619117"/>
            <a:ext cx="9173092"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9" name="Connecteur droit 8">
            <a:extLst>
              <a:ext uri="{FF2B5EF4-FFF2-40B4-BE49-F238E27FC236}">
                <a16:creationId xmlns:a16="http://schemas.microsoft.com/office/drawing/2014/main" id="{8BC8142B-4656-453A-B951-BDB6CE7FD195}"/>
              </a:ext>
            </a:extLst>
          </p:cNvPr>
          <p:cNvCxnSpPr>
            <a:cxnSpLocks/>
          </p:cNvCxnSpPr>
          <p:nvPr/>
        </p:nvCxnSpPr>
        <p:spPr>
          <a:xfrm>
            <a:off x="-14546" y="620688"/>
            <a:ext cx="9209604"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sp>
        <p:nvSpPr>
          <p:cNvPr id="7" name="Espace réservé du contenu 6">
            <a:extLst>
              <a:ext uri="{FF2B5EF4-FFF2-40B4-BE49-F238E27FC236}">
                <a16:creationId xmlns:a16="http://schemas.microsoft.com/office/drawing/2014/main" id="{E30DC8BD-436D-4F7F-A743-1E3E314902F5}"/>
              </a:ext>
            </a:extLst>
          </p:cNvPr>
          <p:cNvSpPr>
            <a:spLocks noGrp="1"/>
          </p:cNvSpPr>
          <p:nvPr>
            <p:ph idx="1"/>
          </p:nvPr>
        </p:nvSpPr>
        <p:spPr>
          <a:xfrm>
            <a:off x="230593" y="1836714"/>
            <a:ext cx="8638881" cy="3664476"/>
          </a:xfrm>
        </p:spPr>
        <p:txBody>
          <a:bodyPr>
            <a:normAutofit lnSpcReduction="10000"/>
          </a:bodyPr>
          <a:lstStyle/>
          <a:p>
            <a:pPr marL="0" indent="0" algn="just">
              <a:buNone/>
            </a:pPr>
            <a:r>
              <a:rPr lang="en-US" sz="2800" dirty="0">
                <a:solidFill>
                  <a:schemeClr val="bg1"/>
                </a:solidFill>
              </a:rPr>
              <a:t>      In summary, France has been one of the countries most affected by the COVID-19 pandemic, with high levels of cases and deaths. Authorities have taken steps to curb the spread of the virus, but the situation remains difficult due to the highly contagious nature of the virus and the variants that have emerged. </a:t>
            </a:r>
          </a:p>
          <a:p>
            <a:pPr marL="0" indent="0" algn="just">
              <a:buNone/>
            </a:pPr>
            <a:r>
              <a:rPr lang="en-US" sz="2800" dirty="0">
                <a:solidFill>
                  <a:schemeClr val="bg1"/>
                </a:solidFill>
              </a:rPr>
              <a:t>      The vaccination campaign is underway and has been accelerated, but it still takes some time to see the effects on the epidemic.</a:t>
            </a:r>
            <a:endParaRPr lang="en-US" sz="1600" dirty="0">
              <a:solidFill>
                <a:srgbClr val="FF0000"/>
              </a:solidFill>
            </a:endParaRPr>
          </a:p>
          <a:p>
            <a:pPr marL="0" indent="0" algn="ctr">
              <a:buNone/>
            </a:pPr>
            <a:endParaRPr lang="en-US" sz="1600" dirty="0">
              <a:solidFill>
                <a:srgbClr val="FF0000"/>
              </a:solidFill>
            </a:endParaRPr>
          </a:p>
        </p:txBody>
      </p:sp>
    </p:spTree>
    <p:extLst>
      <p:ext uri="{BB962C8B-B14F-4D97-AF65-F5344CB8AC3E}">
        <p14:creationId xmlns:p14="http://schemas.microsoft.com/office/powerpoint/2010/main" val="4134232399"/>
      </p:ext>
    </p:extLst>
  </p:cSld>
  <p:clrMapOvr>
    <a:masterClrMapping/>
  </p:clrMapOvr>
  <p:transition>
    <p:blinds/>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du contenu 7">
            <a:extLst>
              <a:ext uri="{FF2B5EF4-FFF2-40B4-BE49-F238E27FC236}">
                <a16:creationId xmlns:a16="http://schemas.microsoft.com/office/drawing/2014/main" id="{4AA36508-2BBF-4B1D-B0A8-4A7307A5F00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9884" t="169" r="9005" b="4969"/>
          <a:stretch/>
        </p:blipFill>
        <p:spPr>
          <a:xfrm>
            <a:off x="0" y="1"/>
            <a:ext cx="9144000" cy="6858000"/>
          </a:xfrm>
          <a:prstGeom prst="rect">
            <a:avLst/>
          </a:prstGeom>
        </p:spPr>
      </p:pic>
      <p:sp>
        <p:nvSpPr>
          <p:cNvPr id="2" name="Titre 1"/>
          <p:cNvSpPr>
            <a:spLocks noGrp="1"/>
          </p:cNvSpPr>
          <p:nvPr>
            <p:ph type="title"/>
          </p:nvPr>
        </p:nvSpPr>
        <p:spPr>
          <a:xfrm>
            <a:off x="0" y="559139"/>
            <a:ext cx="9144000" cy="3528392"/>
          </a:xfrm>
        </p:spPr>
        <p:txBody>
          <a:bodyPr>
            <a:noAutofit/>
          </a:bodyPr>
          <a:lstStyle/>
          <a:p>
            <a:r>
              <a:rPr lang="fr-FR" sz="16600" b="1" spc="50" dirty="0">
                <a:ln w="13500">
                  <a:solidFill>
                    <a:schemeClr val="accent1">
                      <a:shade val="2500"/>
                      <a:alpha val="6500"/>
                    </a:schemeClr>
                  </a:solidFill>
                  <a:prstDash val="solid"/>
                </a:ln>
                <a:solidFill>
                  <a:srgbClr val="00B0F0"/>
                </a:solidFill>
                <a:effectLst>
                  <a:innerShdw blurRad="50900" dist="38500" dir="13500000">
                    <a:srgbClr val="000000">
                      <a:alpha val="60000"/>
                    </a:srgbClr>
                  </a:innerShdw>
                </a:effectLst>
                <a:latin typeface="MV Boli" pitchFamily="2" charset="0"/>
                <a:cs typeface="MV Boli" pitchFamily="2" charset="0"/>
              </a:rPr>
              <a:t>M</a:t>
            </a:r>
            <a:r>
              <a:rPr lang="fr-FR" sz="9600" b="1" spc="50" dirty="0">
                <a:ln w="13500">
                  <a:solidFill>
                    <a:schemeClr val="accent1">
                      <a:shade val="2500"/>
                      <a:alpha val="6500"/>
                    </a:schemeClr>
                  </a:solidFill>
                  <a:prstDash val="solid"/>
                </a:ln>
                <a:solidFill>
                  <a:srgbClr val="00B0F0"/>
                </a:solidFill>
                <a:effectLst>
                  <a:innerShdw blurRad="50900" dist="38500" dir="13500000">
                    <a:srgbClr val="000000">
                      <a:alpha val="60000"/>
                    </a:srgbClr>
                  </a:innerShdw>
                </a:effectLst>
                <a:latin typeface="MV Boli" pitchFamily="2" charset="0"/>
                <a:cs typeface="MV Boli" pitchFamily="2" charset="0"/>
              </a:rPr>
              <a:t>erci pour votre attention</a:t>
            </a:r>
            <a:endParaRPr lang="fr-FR" sz="6000" b="1" spc="50" dirty="0">
              <a:ln w="13500">
                <a:solidFill>
                  <a:schemeClr val="accent1">
                    <a:shade val="2500"/>
                    <a:alpha val="6500"/>
                  </a:schemeClr>
                </a:solidFill>
                <a:prstDash val="solid"/>
              </a:ln>
              <a:solidFill>
                <a:srgbClr val="00B0F0"/>
              </a:solidFill>
              <a:effectLst>
                <a:innerShdw blurRad="50900" dist="38500" dir="13500000">
                  <a:srgbClr val="000000">
                    <a:alpha val="60000"/>
                  </a:srgbClr>
                </a:innerShdw>
              </a:effectLst>
              <a:latin typeface="MV Boli" pitchFamily="2" charset="0"/>
              <a:cs typeface="MV Boli" pitchFamily="2" charset="0"/>
            </a:endParaRPr>
          </a:p>
        </p:txBody>
      </p:sp>
      <p:sp>
        <p:nvSpPr>
          <p:cNvPr id="9" name="ZoneTexte 8"/>
          <p:cNvSpPr txBox="1"/>
          <p:nvPr/>
        </p:nvSpPr>
        <p:spPr>
          <a:xfrm>
            <a:off x="336759" y="4441669"/>
            <a:ext cx="8712968" cy="1697068"/>
          </a:xfrm>
          <a:prstGeom prst="rect">
            <a:avLst/>
          </a:prstGeom>
          <a:noFill/>
        </p:spPr>
        <p:txBody>
          <a:bodyPr wrap="square" rtlCol="0">
            <a:spAutoFit/>
          </a:bodyPr>
          <a:lstStyle/>
          <a:p>
            <a:pPr algn="ctr">
              <a:lnSpc>
                <a:spcPct val="150000"/>
              </a:lnSpc>
            </a:pPr>
            <a:r>
              <a:rPr lang="fr-FR" sz="2400" dirty="0">
                <a:solidFill>
                  <a:schemeClr val="bg1"/>
                </a:solidFill>
              </a:rPr>
              <a:t>        </a:t>
            </a:r>
            <a:r>
              <a:rPr lang="fr-FR" sz="2400" dirty="0" err="1">
                <a:solidFill>
                  <a:schemeClr val="bg1"/>
                </a:solidFill>
              </a:rPr>
              <a:t>I’m</a:t>
            </a:r>
            <a:r>
              <a:rPr lang="fr-FR" sz="2400" dirty="0">
                <a:solidFill>
                  <a:schemeClr val="bg1"/>
                </a:solidFill>
              </a:rPr>
              <a:t> </a:t>
            </a:r>
            <a:r>
              <a:rPr lang="fr-FR" sz="2400" dirty="0" err="1">
                <a:solidFill>
                  <a:schemeClr val="bg1"/>
                </a:solidFill>
              </a:rPr>
              <a:t>Deeply</a:t>
            </a:r>
            <a:r>
              <a:rPr lang="fr-FR" sz="2400" dirty="0">
                <a:solidFill>
                  <a:schemeClr val="bg1"/>
                </a:solidFill>
              </a:rPr>
              <a:t> </a:t>
            </a:r>
            <a:r>
              <a:rPr lang="fr-FR" sz="2400" dirty="0" err="1">
                <a:solidFill>
                  <a:schemeClr val="bg1"/>
                </a:solidFill>
              </a:rPr>
              <a:t>grateful</a:t>
            </a:r>
            <a:r>
              <a:rPr lang="fr-FR" sz="2400" dirty="0">
                <a:solidFill>
                  <a:schemeClr val="bg1"/>
                </a:solidFill>
              </a:rPr>
              <a:t> to </a:t>
            </a:r>
            <a:r>
              <a:rPr lang="fr-FR" sz="2400" b="1" dirty="0" err="1">
                <a:solidFill>
                  <a:schemeClr val="bg1"/>
                </a:solidFill>
              </a:rPr>
              <a:t>Proffessor</a:t>
            </a:r>
            <a:r>
              <a:rPr lang="fr-FR" sz="2400" dirty="0">
                <a:solidFill>
                  <a:schemeClr val="bg1"/>
                </a:solidFill>
              </a:rPr>
              <a:t> </a:t>
            </a:r>
            <a:r>
              <a:rPr lang="fr-FR" sz="2400" b="1" dirty="0">
                <a:solidFill>
                  <a:schemeClr val="bg1"/>
                </a:solidFill>
              </a:rPr>
              <a:t>Roland KRAUSE </a:t>
            </a:r>
            <a:r>
              <a:rPr lang="fr-FR" sz="2400" dirty="0">
                <a:solidFill>
                  <a:schemeClr val="bg1"/>
                </a:solidFill>
              </a:rPr>
              <a:t>ans </a:t>
            </a:r>
            <a:r>
              <a:rPr lang="fr-FR" sz="2400" dirty="0" err="1">
                <a:solidFill>
                  <a:schemeClr val="bg1"/>
                </a:solidFill>
              </a:rPr>
              <a:t>his</a:t>
            </a:r>
            <a:r>
              <a:rPr lang="fr-FR" sz="2400" dirty="0">
                <a:solidFill>
                  <a:schemeClr val="bg1"/>
                </a:solidFill>
              </a:rPr>
              <a:t> assistants for </a:t>
            </a:r>
            <a:r>
              <a:rPr lang="fr-FR" sz="2400" dirty="0" err="1">
                <a:solidFill>
                  <a:schemeClr val="bg1"/>
                </a:solidFill>
              </a:rPr>
              <a:t>their</a:t>
            </a:r>
            <a:r>
              <a:rPr lang="fr-FR" sz="2400" dirty="0">
                <a:solidFill>
                  <a:schemeClr val="bg1"/>
                </a:solidFill>
              </a:rPr>
              <a:t> </a:t>
            </a:r>
            <a:r>
              <a:rPr lang="fr-FR" sz="2400" dirty="0" err="1">
                <a:solidFill>
                  <a:schemeClr val="bg1"/>
                </a:solidFill>
              </a:rPr>
              <a:t>invaluable</a:t>
            </a:r>
            <a:r>
              <a:rPr lang="fr-FR" sz="2400" dirty="0">
                <a:solidFill>
                  <a:schemeClr val="bg1"/>
                </a:solidFill>
              </a:rPr>
              <a:t> guidance </a:t>
            </a:r>
            <a:r>
              <a:rPr lang="fr-FR" sz="2400" dirty="0" err="1">
                <a:solidFill>
                  <a:schemeClr val="bg1"/>
                </a:solidFill>
              </a:rPr>
              <a:t>throughout</a:t>
            </a:r>
            <a:r>
              <a:rPr lang="fr-FR" sz="2400" dirty="0">
                <a:solidFill>
                  <a:schemeClr val="bg1"/>
                </a:solidFill>
              </a:rPr>
              <a:t> </a:t>
            </a:r>
            <a:r>
              <a:rPr lang="fr-FR" sz="2400" dirty="0" err="1">
                <a:solidFill>
                  <a:schemeClr val="bg1"/>
                </a:solidFill>
              </a:rPr>
              <a:t>my</a:t>
            </a:r>
            <a:r>
              <a:rPr lang="fr-FR" sz="2400" dirty="0">
                <a:solidFill>
                  <a:schemeClr val="bg1"/>
                </a:solidFill>
              </a:rPr>
              <a:t> data </a:t>
            </a:r>
            <a:r>
              <a:rPr lang="fr-FR" sz="2400" dirty="0" err="1">
                <a:solidFill>
                  <a:schemeClr val="bg1"/>
                </a:solidFill>
              </a:rPr>
              <a:t>visualization</a:t>
            </a:r>
            <a:r>
              <a:rPr lang="fr-FR" sz="2400" dirty="0">
                <a:solidFill>
                  <a:schemeClr val="bg1"/>
                </a:solidFill>
              </a:rPr>
              <a:t> </a:t>
            </a:r>
            <a:r>
              <a:rPr lang="fr-FR" sz="2400" dirty="0" err="1">
                <a:solidFill>
                  <a:schemeClr val="bg1"/>
                </a:solidFill>
              </a:rPr>
              <a:t>project</a:t>
            </a:r>
            <a:endParaRPr lang="fr-FR" sz="2400" dirty="0">
              <a:solidFill>
                <a:schemeClr val="bg1"/>
              </a:solidFill>
            </a:endParaRPr>
          </a:p>
        </p:txBody>
      </p:sp>
      <p:sp>
        <p:nvSpPr>
          <p:cNvPr id="5" name="Espace réservé du numéro de diapositive 4"/>
          <p:cNvSpPr>
            <a:spLocks noGrp="1"/>
          </p:cNvSpPr>
          <p:nvPr>
            <p:ph type="sldNum" sz="quarter" idx="12"/>
          </p:nvPr>
        </p:nvSpPr>
        <p:spPr>
          <a:xfrm>
            <a:off x="6660232" y="6492875"/>
            <a:ext cx="2133600" cy="365125"/>
          </a:xfrm>
        </p:spPr>
        <p:txBody>
          <a:bodyPr/>
          <a:lstStyle/>
          <a:p>
            <a:fld id="{5DAE46C2-BBC1-4646-95C3-57042F6F9EE7}" type="slidenum">
              <a:rPr lang="fr-FR" smtClean="0"/>
              <a:pPr/>
              <a:t>11</a:t>
            </a:fld>
            <a:endParaRPr lang="fr-FR" dirty="0"/>
          </a:p>
        </p:txBody>
      </p:sp>
      <p:pic>
        <p:nvPicPr>
          <p:cNvPr id="10" name="Image 9">
            <a:extLst>
              <a:ext uri="{FF2B5EF4-FFF2-40B4-BE49-F238E27FC236}">
                <a16:creationId xmlns:a16="http://schemas.microsoft.com/office/drawing/2014/main" id="{C7B2C587-948A-4D0B-92B2-788ACB5070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168" y="5762974"/>
            <a:ext cx="1007742" cy="90144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repeatCount="indefinite" accel="50000" fill="hold" grpId="0" nodeType="clickEffect">
                                  <p:stCondLst>
                                    <p:cond delay="0"/>
                                  </p:stCondLst>
                                  <p:endCondLst>
                                    <p:cond evt="onNext" delay="0">
                                      <p:tgtEl>
                                        <p:sldTgt/>
                                      </p:tgtEl>
                                    </p:cond>
                                  </p:endCondLst>
                                  <p:iterate type="lt">
                                    <p:tmPct val="50000"/>
                                  </p:iterate>
                                  <p:childTnLst>
                                    <p:set>
                                      <p:cBhvr>
                                        <p:cTn id="6" dur="1" fill="hold">
                                          <p:stCondLst>
                                            <p:cond delay="0"/>
                                          </p:stCondLst>
                                        </p:cTn>
                                        <p:tgtEl>
                                          <p:spTgt spid="2"/>
                                        </p:tgtEl>
                                        <p:attrNameLst>
                                          <p:attrName>style.visibility</p:attrName>
                                        </p:attrNameLst>
                                      </p:cBhvr>
                                      <p:to>
                                        <p:strVal val="visible"/>
                                      </p:to>
                                    </p:set>
                                    <p:set>
                                      <p:cBhvr>
                                        <p:cTn id="7" dur="455" fill="hold">
                                          <p:stCondLst>
                                            <p:cond delay="0"/>
                                          </p:stCondLst>
                                        </p:cTn>
                                        <p:tgtEl>
                                          <p:spTgt spid="2"/>
                                        </p:tgtEl>
                                        <p:attrNameLst>
                                          <p:attrName>style.rotation</p:attrName>
                                        </p:attrNameLst>
                                      </p:cBhvr>
                                      <p:to>
                                        <p:strVal val="-45.0"/>
                                      </p:to>
                                    </p:set>
                                    <p:anim calcmode="lin" valueType="num">
                                      <p:cBhvr>
                                        <p:cTn id="8" dur="455" fill="hold">
                                          <p:stCondLst>
                                            <p:cond delay="455"/>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2"/>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24282</TotalTime>
  <Words>729</Words>
  <Application>Microsoft Office PowerPoint</Application>
  <PresentationFormat>Affichage à l'écran (4:3)</PresentationFormat>
  <Paragraphs>130</Paragraphs>
  <Slides>11</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11</vt:i4>
      </vt:variant>
    </vt:vector>
  </HeadingPairs>
  <TitlesOfParts>
    <vt:vector size="18" baseType="lpstr">
      <vt:lpstr>Arial</vt:lpstr>
      <vt:lpstr>Calibri</vt:lpstr>
      <vt:lpstr>Cambria</vt:lpstr>
      <vt:lpstr>MV Boli</vt:lpstr>
      <vt:lpstr>Söhne</vt:lpstr>
      <vt:lpstr>Wingdings</vt:lpstr>
      <vt:lpstr>Thème Office</vt:lpstr>
      <vt:lpstr>University  Of Luxembourg. Faculty of Sciences, Technology and Medecine Département Of Data Science.   THE EVOLUTION OF  </vt:lpstr>
      <vt:lpstr>PLAN OF THE PRESENTATION</vt:lpstr>
      <vt:lpstr>ABSTRACT</vt:lpstr>
      <vt:lpstr>LIBRARIES</vt:lpstr>
      <vt:lpstr>LIBRARIES</vt:lpstr>
      <vt:lpstr>ANANLYSZING THE DATA</vt:lpstr>
      <vt:lpstr>ANANLYSZING THE DATA</vt:lpstr>
      <vt:lpstr>ANANLYSZING THE DATA</vt:lpstr>
      <vt:lpstr>ANANLYSZING THE DATA</vt:lpstr>
      <vt:lpstr>CONCLUSION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hackziz</dc:creator>
  <cp:lastModifiedBy>fadhelallah Bentazir</cp:lastModifiedBy>
  <cp:revision>584</cp:revision>
  <dcterms:created xsi:type="dcterms:W3CDTF">2013-06-13T11:04:16Z</dcterms:created>
  <dcterms:modified xsi:type="dcterms:W3CDTF">2023-01-29T12:15:00Z</dcterms:modified>
</cp:coreProperties>
</file>